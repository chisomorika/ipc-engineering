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APRIL 2026 — IPC MONTHLY REPORT</a:t>
            </a:r>
          </a:p>
          <a:p>
            <a:pPr>
              <a:defRPr sz="1200">
                <a:solidFill>
                  <a:srgbClr val="BBBBBB"/>
                </a:solidFill>
              </a:defRPr>
            </a:pPr>
            <a:r>
              <a:t>Headline &amp; Verdict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1247120" cy="118872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💡 HEADLINE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We acquired 740 DAASH brands but 668 (90%) have NEVER placed an order. Activation, not acquisition, is the bottleneck.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743200"/>
            <a:ext cx="269748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798064"/>
            <a:ext cx="2697480" cy="1225296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IPC SERVICE CHARGE (APR)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1A1A2E"/>
                </a:solidFill>
              </a:defRPr>
            </a:pPr>
            <a:r>
              <a:t>₦3.5M</a:t>
            </a:r>
          </a:p>
          <a:p>
            <a:pPr algn="ctr">
              <a:defRPr sz="900">
                <a:solidFill>
                  <a:srgbClr val="6B7280"/>
                </a:solidFill>
              </a:defRPr>
            </a:pPr>
            <a:r>
              <a:t>▲ +6.2% vs March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2743200"/>
            <a:ext cx="269748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91840" y="2798064"/>
            <a:ext cx="2697480" cy="1225296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DAASH SC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1A1A2E"/>
                </a:solidFill>
              </a:defRPr>
            </a:pPr>
            <a:r>
              <a:t>₦3.4M</a:t>
            </a:r>
          </a:p>
          <a:p>
            <a:pPr algn="ctr">
              <a:defRPr sz="900">
                <a:solidFill>
                  <a:srgbClr val="6B7280"/>
                </a:solidFill>
              </a:defRPr>
            </a:pPr>
            <a:r>
              <a:t>▲ +12.6% vs March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743200"/>
            <a:ext cx="269748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2798064"/>
            <a:ext cx="2697480" cy="1225296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ACTIVE BRANDS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1A1A2E"/>
                </a:solidFill>
              </a:defRPr>
            </a:pPr>
            <a:r>
              <a:t>27</a:t>
            </a:r>
          </a:p>
          <a:p>
            <a:pPr algn="ctr">
              <a:defRPr sz="900">
                <a:solidFill>
                  <a:srgbClr val="6B7280"/>
                </a:solidFill>
              </a:defRPr>
            </a:pPr>
            <a:r>
              <a:t>▲ +17.4% · GoSource: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2743200"/>
            <a:ext cx="269748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61120" y="2798064"/>
            <a:ext cx="2697480" cy="1225296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TOP 3 CONCENTRATION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1A1A2E"/>
                </a:solidFill>
              </a:defRPr>
            </a:pPr>
            <a:r>
              <a:t>92.0%</a:t>
            </a:r>
          </a:p>
          <a:p>
            <a:pPr algn="ctr">
              <a:defRPr sz="900">
                <a:solidFill>
                  <a:srgbClr val="6B7280"/>
                </a:solidFill>
              </a:defRPr>
            </a:pPr>
            <a:r>
              <a:t>of all DAASH service charge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06240"/>
            <a:ext cx="5486400" cy="2011680"/>
          </a:xfrm>
          <a:prstGeom prst="round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2A47"/>
                </a:solidFill>
              </a:defRPr>
            </a:pPr>
            <a:r>
              <a:t>📊 APRIL vs Q1 TRAJECTORY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Q1 2026 total SC: ₦8.9M (₦3.0M/month avg)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April SC: ₦3.4M (▲ +13.9% vs Q1 monthly avg)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April GMV: ₦509.7M | March GMV: ₦508.7M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April orders: 35,566 | March orders: 34,665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206240"/>
            <a:ext cx="5577840" cy="201168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⚖️ VERDICT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✓ DAASH SC growing — ▲ +12.6% vs March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⚠️ Top 3 brands still own 92% of revenue — concentration risk unchanged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⚠️ 668 signed-up brands have never ordered — dead inventory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Monthly Report —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ACTIVATION, RETENTION &amp; DILUTION</a:t>
            </a:r>
          </a:p>
          <a:p>
            <a:pPr>
              <a:defRPr sz="1200">
                <a:solidFill>
                  <a:srgbClr val="BBBBBB"/>
                </a:solidFill>
              </a:defRPr>
            </a:pPr>
            <a:r>
              <a:t>Where the real growth problem lives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5943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645920"/>
                <a:gridCol w="173736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DAASH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GoSource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Total Signups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740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641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Ever Placed Order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72 (9.7%)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45 (7.0%)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Activated within 30d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45 (6.1%)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31 (4.8%)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Active in April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Revenue-meaningful (&gt;₦100K SC)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0" y="1371600"/>
          <a:ext cx="484632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645920"/>
                <a:gridCol w="164592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Cohort Month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M1 Retention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M3 Retention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2025-12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4.3%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4.3%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2026-01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3.8%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3.8%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10.5%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5.3%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2026-03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2.7%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2026-05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297680"/>
            <a:ext cx="5943600" cy="182880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DC2626"/>
                </a:solidFill>
              </a:defRPr>
            </a:pPr>
            <a:r>
              <a:t>💡 THE ACTIVATION GAP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Only 6.1% of 740 DAASH signups activate within 30 days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668 brands (90%) have NEVER placed an order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GoSource: 4.8% activation, 596 never ordered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This is dead inventory in the database — sign-ups without behaviour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4297680"/>
            <a:ext cx="5120640" cy="182880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B45D09"/>
                </a:solidFill>
              </a:defRPr>
            </a:pPr>
            <a:r>
              <a:t>📉 RETENTION REALITY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M1 retention is in single digits (most cohorts &lt;5%)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M3 retention is essentially 0% across all cohorts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We're not losing customers — we're losing them month 1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Brand Success motion needed in first 30 days, not later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Monthly Report — April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CONCENTRATION, MOVERS &amp; MENU STALENESS</a:t>
            </a:r>
          </a:p>
          <a:p>
            <a:pPr>
              <a:defRPr sz="1200">
                <a:solidFill>
                  <a:srgbClr val="BBBBBB"/>
                </a:solidFill>
              </a:defRPr>
            </a:pPr>
            <a:r>
              <a:t>Where activation is working — and where it isn't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5943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560320"/>
                <a:gridCol w="1554480"/>
                <a:gridCol w="13716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Brand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Service Charge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% of Total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Papas Grill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₦2.1M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61.6%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Wings Bistro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₦555K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16.3%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Citysubs 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₦480K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14.1%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Midnight City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₦56K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1.7%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Ajebo Chops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₦45K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1.3%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371600"/>
          <a:ext cx="51206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  <a:gridCol w="109728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Brand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Apr SC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Mar SC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Δ%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Wings Bistro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₦555K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₦352K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+58%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Citysubs 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₦480K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₦420K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+14%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Papas Grill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₦2.1M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₦2.1M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+2%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Midnight City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₦56K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₦69K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-18%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114800"/>
            <a:ext cx="5943600" cy="201168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DC2626"/>
                </a:solidFill>
              </a:defRPr>
            </a:pPr>
            <a:r>
              <a:t>🍽️ MENU STALENESS (Churn Predictor)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40 brands haven't updated menu in 180+ days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14 brands haven't updated in 90-180 days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18 brands have fresh menus (&lt;90 days)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Average days since last menu update: 209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Menu staleness is a leading churn indicator — these brands need outreach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4114800"/>
            <a:ext cx="5120640" cy="201168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🚀 WHERE ACTIVATION IS WORKING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4 brands grew &gt;50K in service charge MoM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Top mover: Wings Bistro — ▲ +57.5%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These are the playbooks to study + replicate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Mid-tier movers prove activation IS possible — we just don't have a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Monthly Report — April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GOSOURCE — APRIL SNAPSHOT</a:t>
            </a:r>
          </a:p>
          <a:p>
            <a:pPr>
              <a:defRPr sz="1200">
                <a:solidFill>
                  <a:srgbClr val="BBBBBB"/>
                </a:solidFill>
              </a:defRPr>
            </a:pPr>
            <a:r>
              <a:t>B2B procurement performance &amp; customer health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697480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26464"/>
            <a:ext cx="2697480" cy="1133856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0D7C66"/>
                </a:solidFill>
              </a:defRPr>
            </a:pPr>
            <a:r>
              <a:t>GoSource SC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1A1A2E"/>
                </a:solidFill>
              </a:defRPr>
            </a:pPr>
            <a:r>
              <a:t>₦86K</a:t>
            </a:r>
          </a:p>
          <a:p>
            <a:pPr algn="ctr">
              <a:defRPr sz="900">
                <a:solidFill>
                  <a:srgbClr val="6B7280"/>
                </a:solidFill>
              </a:defRPr>
            </a:pPr>
            <a:r>
              <a:t>▼ -67.5% vs March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371600"/>
            <a:ext cx="2697480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91840" y="1426464"/>
            <a:ext cx="2697480" cy="1133856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0D7C66"/>
                </a:solidFill>
              </a:defRPr>
            </a:pPr>
            <a:r>
              <a:t>GoSource GMV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1A1A2E"/>
                </a:solidFill>
              </a:defRPr>
            </a:pPr>
            <a:r>
              <a:t>₦38.0M</a:t>
            </a:r>
          </a:p>
          <a:p>
            <a:pPr algn="ctr">
              <a:defRPr sz="900">
                <a:solidFill>
                  <a:srgbClr val="6B7280"/>
                </a:solidFill>
              </a:defRPr>
            </a:pPr>
            <a:r>
              <a:t>▼ -30.6% vs March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371600"/>
            <a:ext cx="2697480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1426464"/>
            <a:ext cx="2697480" cy="1133856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0D7C66"/>
                </a:solidFill>
              </a:defRPr>
            </a:pPr>
            <a:r>
              <a:t>ORDERS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1A1A2E"/>
                </a:solidFill>
              </a:defRPr>
            </a:pPr>
            <a:r>
              <a:t>80</a:t>
            </a:r>
          </a:p>
          <a:p>
            <a:pPr algn="ctr">
              <a:defRPr sz="900">
                <a:solidFill>
                  <a:srgbClr val="6B7280"/>
                </a:solidFill>
              </a:defRPr>
            </a:pPr>
            <a:r>
              <a:t>▼ -42.4% vs March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0" y="1371600"/>
            <a:ext cx="2697480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0" y="1426464"/>
            <a:ext cx="2697480" cy="1133856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0D7C66"/>
                </a:solidFill>
              </a:defRPr>
            </a:pPr>
            <a:r>
              <a:t>ACTIVE CUSTOMERS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1A1A2E"/>
                </a:solidFill>
              </a:defRPr>
            </a:pPr>
            <a:r>
              <a:t>12</a:t>
            </a:r>
          </a:p>
          <a:p>
            <a:pPr algn="ctr">
              <a:defRPr sz="900">
                <a:solidFill>
                  <a:srgbClr val="6B7280"/>
                </a:solidFill>
              </a:defRPr>
            </a:pPr>
            <a:r>
              <a:t>AOV: ₦475K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5486400" cy="3200400"/>
          </a:xfrm>
          <a:prstGeom prst="round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2A47"/>
                </a:solidFill>
              </a:defRPr>
            </a:pPr>
            <a:r>
              <a:t>🏥 GOSOURCE CUSTOMER HEALTH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✅ Healthy: 15 (26%)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⚠️ At Risk: 34 (60%)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🚨 Critical: 8 (14%)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Critical = haven't ordered recently or showing churn signals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At Risk = declining order frequency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Action: account managers should call all Critical customers this week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834640"/>
            <a:ext cx="5577840" cy="320040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DC2626"/>
                </a:solidFill>
              </a:defRPr>
            </a:pPr>
            <a:r>
              <a:t>📉 GOSOURCE ACTIVATION PROBLEM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641 total signups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596 (93%) have NEVER placed an order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Only 31 (4.8%) activated within 30d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3 new customers acquired in Q1 (1 in Mar, 2 in Apr range)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Repeat rate (existing customers): 93% — they stick once they start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The bottleneck is getting them to start, not keeping them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Monthly Report — April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45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CASH &amp; CREDIT RISK</a:t>
            </a:r>
          </a:p>
          <a:p>
            <a:pPr>
              <a:defRPr sz="1200">
                <a:solidFill>
                  <a:srgbClr val="BBBBBB"/>
                </a:solidFill>
              </a:defRPr>
            </a:pPr>
            <a:r>
              <a:t>Lenco position, AR aging, GoSource credit exposure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69748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26464"/>
            <a:ext cx="2697480" cy="1133856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TOTAL LENCO BALANCE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1A1A2E"/>
                </a:solidFill>
              </a:defRPr>
            </a:pPr>
            <a:r>
              <a:t>₦2.5M</a:t>
            </a:r>
          </a:p>
          <a:p>
            <a:pPr algn="ctr">
              <a:defRPr sz="900">
                <a:solidFill>
                  <a:srgbClr val="6B7280"/>
                </a:solidFill>
              </a:defRPr>
            </a:pPr>
            <a:r>
              <a:t>All 11 sub-accounts (IPC + GoSource)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371600"/>
            <a:ext cx="269748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91840" y="1426464"/>
            <a:ext cx="2697480" cy="1133856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TOTAL AR OUTSTANDING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1A1A2E"/>
                </a:solidFill>
              </a:defRPr>
            </a:pPr>
            <a:r>
              <a:t>₦83.9M</a:t>
            </a:r>
          </a:p>
          <a:p>
            <a:pPr algn="ctr">
              <a:defRPr sz="900">
                <a:solidFill>
                  <a:srgbClr val="6B7280"/>
                </a:solidFill>
              </a:defRPr>
            </a:pPr>
            <a:r>
              <a:t>100% is 90+ days overdue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371600"/>
            <a:ext cx="269748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1426464"/>
            <a:ext cx="2697480" cy="1133856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DC2626"/>
                </a:solidFill>
              </a:defRPr>
            </a:pPr>
            <a:r>
              <a:t>AR &gt; 90 DAYS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1A1A2E"/>
                </a:solidFill>
              </a:defRPr>
            </a:pPr>
            <a:r>
              <a:t>₦83.9M</a:t>
            </a:r>
          </a:p>
          <a:p>
            <a:pPr algn="ctr">
              <a:defRPr sz="900">
                <a:solidFill>
                  <a:srgbClr val="6B7280"/>
                </a:solidFill>
              </a:defRPr>
            </a:pPr>
            <a:r>
              <a:t>All legacy debt — no new credit being extended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0" y="1371600"/>
            <a:ext cx="2697480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0" y="1426464"/>
            <a:ext cx="2697480" cy="1133856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0D7C66"/>
                </a:solidFill>
              </a:defRPr>
            </a:pPr>
            <a:r>
              <a:t>CREDIT PENETRATION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1A1A2E"/>
                </a:solidFill>
              </a:defRPr>
            </a:pPr>
            <a:r>
              <a:t>8.8%</a:t>
            </a:r>
          </a:p>
          <a:p>
            <a:pPr algn="ctr">
              <a:defRPr sz="900">
                <a:solidFill>
                  <a:srgbClr val="6B7280"/>
                </a:solidFill>
              </a:defRPr>
            </a:pPr>
            <a:r>
              <a:t>5 of 57 GoSource customers credit-enabled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834640"/>
          <a:ext cx="5943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743200"/>
                <a:gridCol w="1554480"/>
                <a:gridCol w="118872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Customer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Outstanding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Invoices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Papa’s grill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₦39.1M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Citysubs 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₦9.8M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Wings bistro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₦9.2M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Food Court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₦8.6M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City subs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₦6.4M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0" y="2834640"/>
            <a:ext cx="5120640" cy="320040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DC2626"/>
                </a:solidFill>
              </a:defRPr>
            </a:pPr>
            <a:r>
              <a:t>🚨 COLLECTIONS CRISIS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Total outstanding: ₦83.9M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100% is 90+ days overdue (legacy debt)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Top debtor: Papa’s grill — ₦39.1M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Same brand is also #1 GoSource customer (complicated)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RECOMMENDED ACTIONS: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1. Freeze new credit until top 5 debtors start repaying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2. Final demand letters this week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3. Escalate to management for direct intervention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Monthly Report — April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DECISIONS NEEDED</a:t>
            </a:r>
          </a:p>
          <a:p>
            <a:pPr>
              <a:defRPr sz="1200">
                <a:solidFill>
                  <a:srgbClr val="BBBBBB"/>
                </a:solidFill>
              </a:defRPr>
            </a:pPr>
            <a:r>
              <a:t>What we need from leadership to fix activation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1463040"/>
          </a:xfrm>
          <a:prstGeom prst="round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2A47"/>
                </a:solidFill>
              </a:defRPr>
            </a:pPr>
            <a:r>
              <a:t>🎯 THE STRATEGIC SHIFT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Stop chasing new sign-ups. Pause acquisition push for one quarter.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Focus on activating the 27 active DAASH brands and the 713 dormant ones.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Goal for end of Q2: triple revenue-meaningful brands (&gt;₦100K SC) from 3 to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017520"/>
            <a:ext cx="5486400" cy="320040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✅ ASKS WITH OWNERS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1. ONE Brand Success headcount (Owner: leadership)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 • Sets up Google profiles, WhatsApp, QR flyers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 • Pays for itself in 1 quarter via activated brands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2. WhatsApp automation build (Owner: engineering)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 • Win-back campaigns + holiday triggers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 • Highest-ROI feature based on 98% open rate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3. GoSource × DAASH cross-sell pilot (Owner: account mgmt)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 • 5 brands on both platforms get monthly DAASH report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 • Track: do they activate online channel after seeing data?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3017520"/>
            <a:ext cx="5577840" cy="3200400"/>
          </a:xfrm>
          <a:prstGeom prst="round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2A47"/>
                </a:solidFill>
              </a:defRPr>
            </a:pPr>
            <a:r>
              <a:t>📋 DATA TEAM COMMITMENTS (Q2)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1. Brand Activation Score live by end of May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 • Composite metric ranking each brand's activation level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2. Automated health alerts to account managers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 • When customer drops a tier, auto-notify with action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3. GoSource COGS instrumentation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 • Need product team partnership — 4-week deadline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4. Reorder prediction for GoSource (B2B)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   • Customer's avg order cadence → auto-nudge when overdue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Monthly Report —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